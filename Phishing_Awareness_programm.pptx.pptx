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Phishing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Comprehensive Training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1. Understanding Phishing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Phishing is a cyber attack using disguised email, text messages, or websites to trick people into:</a:t>
            </a:r>
          </a:p>
          <a:p>
            <a:r>
              <a:rPr sz="2000" b="0">
                <a:solidFill>
                  <a:srgbClr val="FFFFFF"/>
                </a:solidFill>
              </a:rPr>
              <a:t>Revealing sensitive information</a:t>
            </a:r>
          </a:p>
          <a:p>
            <a:r>
              <a:rPr sz="2000" b="0">
                <a:solidFill>
                  <a:srgbClr val="FFFFFF"/>
                </a:solidFill>
              </a:rPr>
              <a:t>Downloading malware</a:t>
            </a:r>
          </a:p>
          <a:p>
            <a:r>
              <a:rPr sz="2000" b="0">
                <a:solidFill>
                  <a:srgbClr val="FFFFFF"/>
                </a:solidFill>
              </a:rPr>
              <a:t>Taking actions that compromise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Did you know?</a:t>
            </a:r>
          </a:p>
          <a:p>
            <a:r>
              <a:rPr sz="2000" b="0">
                <a:solidFill>
                  <a:srgbClr val="FFFFFF"/>
                </a:solidFill>
              </a:rPr>
              <a:t>According to the FBI, phishing caused losses exceeding $4.2 billion in 2020.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2. Recognizing Phishing Emails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Warning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2000" b="0">
                <a:solidFill>
                  <a:srgbClr val="FFFFFF"/>
                </a:solidFill>
              </a:rPr>
              <a:t>Urgent or threatening language</a:t>
            </a:r>
          </a:p>
          <a:p>
            <a:r>
              <a:rPr sz="2000" b="0">
                <a:solidFill>
                  <a:srgbClr val="FFFFFF"/>
                </a:solidFill>
              </a:rPr>
              <a:t>Requests for personal information</a:t>
            </a:r>
          </a:p>
          <a:p>
            <a:r>
              <a:rPr sz="2000" b="0">
                <a:solidFill>
                  <a:srgbClr val="FFFFFF"/>
                </a:solidFill>
              </a:rPr>
              <a:t>Poor spelling and grammar</a:t>
            </a:r>
          </a:p>
          <a:p>
            <a:r>
              <a:rPr sz="2000" b="0">
                <a:solidFill>
                  <a:srgbClr val="FFFFFF"/>
                </a:solidFill>
              </a:rPr>
              <a:t>Generic greetings like 'Dear Customer'</a:t>
            </a:r>
          </a:p>
          <a:p>
            <a:r>
              <a:rPr sz="2000" b="0">
                <a:solidFill>
                  <a:srgbClr val="FFFFFF"/>
                </a:solidFill>
              </a:rPr>
              <a:t>Suspicious sender addresses</a:t>
            </a:r>
          </a:p>
          <a:p>
            <a:r>
              <a:rPr sz="2000" b="0">
                <a:solidFill>
                  <a:srgbClr val="FFFFFF"/>
                </a:solidFill>
              </a:rPr>
              <a:t>Unexpected attachments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Safe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2000" b="0">
                <a:solidFill>
                  <a:srgbClr val="FFFFFF"/>
                </a:solidFill>
              </a:rPr>
              <a:t>Check sender's email address carefully</a:t>
            </a:r>
          </a:p>
          <a:p>
            <a:r>
              <a:rPr sz="2000" b="0">
                <a:solidFill>
                  <a:srgbClr val="FFFFFF"/>
                </a:solidFill>
              </a:rPr>
              <a:t>Hover over links to see actual URL</a:t>
            </a:r>
          </a:p>
          <a:p>
            <a:r>
              <a:rPr sz="2000" b="0">
                <a:solidFill>
                  <a:srgbClr val="FFFFFF"/>
                </a:solidFill>
              </a:rPr>
              <a:t>Look for personalization</a:t>
            </a:r>
          </a:p>
          <a:p>
            <a:r>
              <a:rPr sz="2000" b="0">
                <a:solidFill>
                  <a:srgbClr val="FFFFFF"/>
                </a:solidFill>
              </a:rPr>
              <a:t>Contact organization directly using official channels</a:t>
            </a:r>
          </a:p>
          <a:p>
            <a:r>
              <a:rPr sz="2000" b="0">
                <a:solidFill>
                  <a:srgbClr val="FFFFFF"/>
                </a:solidFill>
              </a:rPr>
              <a:t>When in doubt, don't click!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Example: Fake Amazon 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2000" b="0">
                <a:solidFill>
                  <a:srgbClr val="FFFFFF"/>
                </a:solidFill>
              </a:rPr>
              <a:t>From: security@amaz0n-support.com</a:t>
            </a:r>
          </a:p>
          <a:p>
            <a:r>
              <a:rPr sz="2000" b="0">
                <a:solidFill>
                  <a:srgbClr val="FFFFFF"/>
                </a:solidFill>
              </a:rPr>
              <a:t>Urgent: Your Amazon Account Has Been Locked!</a:t>
            </a:r>
          </a:p>
          <a:p>
            <a:r>
              <a:rPr sz="2000" b="0">
                <a:solidFill>
                  <a:srgbClr val="FFFFFF"/>
                </a:solidFill>
              </a:rPr>
              <a:t>Notice the misspelled domain (amaz0n vs amazon)</a:t>
            </a:r>
          </a:p>
          <a:p>
            <a:r>
              <a:rPr sz="2000" b="0">
                <a:solidFill>
                  <a:srgbClr val="FFFFFF"/>
                </a:solidFill>
              </a:rPr>
              <a:t>Generic greeting – 'Dear Valued Customer'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3. Identifying Fake Websites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How to Spot 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2000" b="0">
                <a:solidFill>
                  <a:srgbClr val="FFFFFF"/>
                </a:solidFill>
              </a:rPr>
              <a:t>Check URL carefully for misspellings</a:t>
            </a:r>
          </a:p>
          <a:p>
            <a:r>
              <a:rPr sz="2000" b="0">
                <a:solidFill>
                  <a:srgbClr val="FFFFFF"/>
                </a:solidFill>
              </a:rPr>
              <a:t>Look for HTTPS &amp; padlock icon</a:t>
            </a:r>
          </a:p>
          <a:p>
            <a:r>
              <a:rPr sz="2000" b="0">
                <a:solidFill>
                  <a:srgbClr val="FFFFFF"/>
                </a:solidFill>
              </a:rPr>
              <a:t>Examine website design quality</a:t>
            </a:r>
          </a:p>
          <a:p>
            <a:r>
              <a:rPr sz="2000" b="0">
                <a:solidFill>
                  <a:srgbClr val="FFFFFF"/>
                </a:solidFill>
              </a:rPr>
              <a:t>Check for contact information</a:t>
            </a:r>
          </a:p>
          <a:p>
            <a:r>
              <a:rPr sz="2000" b="0">
                <a:solidFill>
                  <a:srgbClr val="FFFFFF"/>
                </a:solidFill>
              </a:rPr>
              <a:t>Look for grammar/spelling errors</a:t>
            </a:r>
          </a:p>
          <a:p>
            <a:r>
              <a:rPr sz="2000" b="0">
                <a:solidFill>
                  <a:srgbClr val="FFFFFF"/>
                </a:solidFill>
              </a:rPr>
              <a:t>Be wary of too-good-to-be-true deals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2000" b="0">
                <a:solidFill>
                  <a:srgbClr val="FFFFFF"/>
                </a:solidFill>
              </a:rPr>
              <a:t>Legit: https://www.amazon.com</a:t>
            </a:r>
          </a:p>
          <a:p>
            <a:r>
              <a:rPr sz="2000" b="0">
                <a:solidFill>
                  <a:srgbClr val="FFFFFF"/>
                </a:solidFill>
              </a:rPr>
              <a:t>Phishing: http://amaz0n-security-verify.com</a:t>
            </a:r>
          </a:p>
          <a:p>
            <a:r>
              <a:rPr sz="2000" b="0">
                <a:solidFill>
                  <a:srgbClr val="FFFFFF"/>
                </a:solidFill>
              </a:rPr>
              <a:t>Phishing: https://amazon.customer-support.verify.com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4. Social Engineering Tactics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Common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2000" b="0">
                <a:solidFill>
                  <a:srgbClr val="FFFFFF"/>
                </a:solidFill>
              </a:rPr>
              <a:t>Pretexting: False scenario to obtain information</a:t>
            </a:r>
          </a:p>
          <a:p>
            <a:r>
              <a:rPr sz="2000" b="0">
                <a:solidFill>
                  <a:srgbClr val="FFFFFF"/>
                </a:solidFill>
              </a:rPr>
              <a:t>Baiting: Offering something enticing</a:t>
            </a:r>
          </a:p>
          <a:p>
            <a:r>
              <a:rPr sz="2000" b="0">
                <a:solidFill>
                  <a:srgbClr val="FFFFFF"/>
                </a:solidFill>
              </a:rPr>
              <a:t>Quid pro quo: Service in exchange for data</a:t>
            </a:r>
          </a:p>
          <a:p>
            <a:r>
              <a:rPr sz="2000" b="0">
                <a:solidFill>
                  <a:srgbClr val="FFFFFF"/>
                </a:solidFill>
              </a:rPr>
              <a:t>Tailgating: Following into restricted areas</a:t>
            </a:r>
          </a:p>
          <a:p>
            <a:r>
              <a:rPr sz="2000" b="0">
                <a:solidFill>
                  <a:srgbClr val="FFFFFF"/>
                </a:solidFill>
              </a:rPr>
              <a:t>Phishing: Mass fraudulent communications</a:t>
            </a:r>
          </a:p>
          <a:p>
            <a:r>
              <a:rPr sz="2000" b="0">
                <a:solidFill>
                  <a:srgbClr val="FFFFFF"/>
                </a:solidFill>
              </a:rPr>
              <a:t>Spear phishing: Targeted attacks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Psychological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2000" b="0">
                <a:solidFill>
                  <a:srgbClr val="FFFFFF"/>
                </a:solidFill>
              </a:rPr>
              <a:t>Authority: Pretending to be in power</a:t>
            </a:r>
          </a:p>
          <a:p>
            <a:r>
              <a:rPr sz="2000" b="0">
                <a:solidFill>
                  <a:srgbClr val="FFFFFF"/>
                </a:solidFill>
              </a:rPr>
              <a:t>Urgency: Creating time-sensitive scenarios</a:t>
            </a:r>
          </a:p>
          <a:p>
            <a:r>
              <a:rPr sz="2000" b="0">
                <a:solidFill>
                  <a:srgbClr val="FFFFFF"/>
                </a:solidFill>
              </a:rPr>
              <a:t>Fear: Threatening negative consequences</a:t>
            </a:r>
          </a:p>
          <a:p>
            <a:r>
              <a:rPr sz="2000" b="0">
                <a:solidFill>
                  <a:srgbClr val="FFFFFF"/>
                </a:solidFill>
              </a:rPr>
              <a:t>Greed: Offering unrealistic rewards</a:t>
            </a:r>
          </a:p>
          <a:p>
            <a:r>
              <a:rPr sz="2000" b="0">
                <a:solidFill>
                  <a:srgbClr val="FFFFFF"/>
                </a:solidFill>
              </a:rPr>
              <a:t>Helpfulness: Exploiting desire to assist</a:t>
            </a:r>
          </a:p>
          <a:p>
            <a:r>
              <a:rPr sz="2000" b="0">
                <a:solidFill>
                  <a:srgbClr val="FFFFFF"/>
                </a:solidFill>
              </a:rPr>
              <a:t>Familiarity: Using known names/brands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Real-World Example: CEO Fraud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Employee receives urgent email appearing to be from CEO requesting:</a:t>
            </a:r>
          </a:p>
          <a:p>
            <a:r>
              <a:rPr sz="2000" b="0">
                <a:solidFill>
                  <a:srgbClr val="FFFFFF"/>
                </a:solidFill>
              </a:rPr>
              <a:t>Immediate wire transfer requests</a:t>
            </a:r>
          </a:p>
          <a:p>
            <a:r>
              <a:rPr sz="2000" b="0">
                <a:solidFill>
                  <a:srgbClr val="FFFFFF"/>
                </a:solidFill>
              </a:rPr>
              <a:t>Sensitive data disclosure</a:t>
            </a:r>
          </a:p>
          <a:p>
            <a:r>
              <a:rPr sz="2000" b="0">
                <a:solidFill>
                  <a:srgbClr val="FFFFFF"/>
                </a:solidFill>
              </a:rPr>
              <a:t>Confidential/time-sensitive deal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5. Best Practices &amp; Prevention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Email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2000" b="0">
                <a:solidFill>
                  <a:srgbClr val="FFFFFF"/>
                </a:solidFill>
              </a:rPr>
              <a:t>Enable spam filters</a:t>
            </a:r>
          </a:p>
          <a:p>
            <a:r>
              <a:rPr sz="2000" b="0">
                <a:solidFill>
                  <a:srgbClr val="FFFFFF"/>
                </a:solidFill>
              </a:rPr>
              <a:t>Never respond to suspicious emails</a:t>
            </a:r>
          </a:p>
          <a:p>
            <a:r>
              <a:rPr sz="2000" b="0">
                <a:solidFill>
                  <a:srgbClr val="FFFFFF"/>
                </a:solidFill>
              </a:rPr>
              <a:t>Don't click unknown links or attachments</a:t>
            </a:r>
          </a:p>
          <a:p>
            <a:r>
              <a:rPr sz="2000" b="0">
                <a:solidFill>
                  <a:srgbClr val="FFFFFF"/>
                </a:solidFill>
              </a:rPr>
              <a:t>Verify unexpected requests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Online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2000" b="0">
                <a:solidFill>
                  <a:srgbClr val="FFFFFF"/>
                </a:solidFill>
              </a:rPr>
              <a:t>Use multi-factor authentication</a:t>
            </a:r>
          </a:p>
          <a:p>
            <a:r>
              <a:rPr sz="2000" b="0">
                <a:solidFill>
                  <a:srgbClr val="FFFFFF"/>
                </a:solidFill>
              </a:rPr>
              <a:t>Keep software updated</a:t>
            </a:r>
          </a:p>
          <a:p>
            <a:r>
              <a:rPr sz="2000" b="0">
                <a:solidFill>
                  <a:srgbClr val="FFFFFF"/>
                </a:solidFill>
              </a:rPr>
              <a:t>Use strong, unique passwords</a:t>
            </a:r>
          </a:p>
          <a:p>
            <a:r>
              <a:rPr sz="2000" b="0">
                <a:solidFill>
                  <a:srgbClr val="FFFFFF"/>
                </a:solidFill>
              </a:rPr>
              <a:t>Check HTTPS before entering data</a:t>
            </a:r>
          </a:p>
          <a:p>
            <a:r>
              <a:rPr sz="2000" b="0">
                <a:solidFill>
                  <a:srgbClr val="FFFFFF"/>
                </a:solidFill>
              </a:rPr>
              <a:t>Monitor financial accounts regularly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If You've Been Phished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2000" b="0">
                <a:solidFill>
                  <a:srgbClr val="FFFFFF"/>
                </a:solidFill>
              </a:rPr>
              <a:t>Disconnect from network immediately</a:t>
            </a:r>
          </a:p>
          <a:p>
            <a:r>
              <a:rPr sz="2000" b="0">
                <a:solidFill>
                  <a:srgbClr val="FFFFFF"/>
                </a:solidFill>
              </a:rPr>
              <a:t>Change passwords on affected accounts</a:t>
            </a:r>
          </a:p>
          <a:p>
            <a:r>
              <a:rPr sz="2000" b="0">
                <a:solidFill>
                  <a:srgbClr val="FFFFFF"/>
                </a:solidFill>
              </a:rPr>
              <a:t>Contact IT/security team</a:t>
            </a:r>
          </a:p>
          <a:p>
            <a:r>
              <a:rPr sz="2000" b="0">
                <a:solidFill>
                  <a:srgbClr val="FFFFFF"/>
                </a:solidFill>
              </a:rPr>
              <a:t>Monitor accounts for activity</a:t>
            </a:r>
          </a:p>
          <a:p>
            <a:r>
              <a:rPr sz="2000" b="0">
                <a:solidFill>
                  <a:srgbClr val="FFFFFF"/>
                </a:solidFill>
              </a:rPr>
              <a:t>Report phishing attempt</a:t>
            </a:r>
          </a:p>
          <a:p>
            <a:r>
              <a:rPr sz="2000" b="0">
                <a:solidFill>
                  <a:srgbClr val="FFFFFF"/>
                </a:solidFill>
              </a:rPr>
              <a:t>Run antivirus/anti-malware scans</a:t>
            </a:r>
          </a:p>
          <a:p>
            <a:r>
              <a:rPr sz="2000" b="0">
                <a:solidFill>
                  <a:srgbClr val="FFFFFF"/>
                </a:solidFill>
              </a:rPr>
              <a:t>Consider fraud alerts on credit reports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6. Quiz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Which is a common sign of phishing email?</a:t>
            </a:r>
          </a:p>
          <a:p>
            <a:r>
              <a:rPr sz="2000" b="0">
                <a:solidFill>
                  <a:srgbClr val="FFFFFF"/>
                </a:solidFill>
              </a:rPr>
              <a:t>Professional company logo</a:t>
            </a:r>
          </a:p>
          <a:p>
            <a:r>
              <a:rPr sz="2000" b="0">
                <a:solidFill>
                  <a:srgbClr val="FFFFFF"/>
                </a:solidFill>
              </a:rPr>
              <a:t>Urgent action required</a:t>
            </a:r>
          </a:p>
          <a:p>
            <a:r>
              <a:rPr sz="2000" b="0">
                <a:solidFill>
                  <a:srgbClr val="FFFFFF"/>
                </a:solidFill>
              </a:rPr>
              <a:t>Clear contact info</a:t>
            </a:r>
          </a:p>
          <a:p>
            <a:r>
              <a:rPr sz="2000" b="0">
                <a:solidFill>
                  <a:srgbClr val="FFFFFF"/>
                </a:solidFill>
              </a:rPr>
              <a:t>Personalized greeting</a:t>
            </a:r>
          </a:p>
          <a:p>
            <a:r>
              <a:rPr sz="2000" b="0">
                <a:solidFill>
                  <a:srgbClr val="FFFFFF"/>
                </a:solidFill>
              </a:rPr>
              <a:t>Correct: Urgent action required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What should you do if you receive suspicious bank email?</a:t>
            </a:r>
          </a:p>
          <a:p>
            <a:r>
              <a:rPr sz="2000" b="0">
                <a:solidFill>
                  <a:srgbClr val="FFFFFF"/>
                </a:solidFill>
              </a:rPr>
              <a:t>Click the link to verify</a:t>
            </a:r>
          </a:p>
          <a:p>
            <a:r>
              <a:rPr sz="2000" b="0">
                <a:solidFill>
                  <a:srgbClr val="FFFFFF"/>
                </a:solidFill>
              </a:rPr>
              <a:t>Call number in email</a:t>
            </a:r>
          </a:p>
          <a:p>
            <a:r>
              <a:rPr sz="2000" b="0">
                <a:solidFill>
                  <a:srgbClr val="FFFFFF"/>
                </a:solidFill>
              </a:rPr>
              <a:t>Forward to colleagues</a:t>
            </a:r>
          </a:p>
          <a:p>
            <a:r>
              <a:rPr sz="2000" b="0">
                <a:solidFill>
                  <a:srgbClr val="FFFFFF"/>
                </a:solidFill>
              </a:rPr>
              <a:t>Contact bank via official site</a:t>
            </a:r>
          </a:p>
          <a:p>
            <a:r>
              <a:rPr sz="2000" b="0">
                <a:solidFill>
                  <a:srgbClr val="FFFFFF"/>
                </a:solidFill>
              </a:rPr>
              <a:t>Correct: Contact bank via official site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How to check if website is secure?</a:t>
            </a:r>
          </a:p>
          <a:p>
            <a:r>
              <a:rPr sz="2000" b="0">
                <a:solidFill>
                  <a:srgbClr val="FFFFFF"/>
                </a:solidFill>
              </a:rPr>
              <a:t>Attractive graphics</a:t>
            </a:r>
          </a:p>
          <a:p>
            <a:r>
              <a:rPr sz="2000" b="0">
                <a:solidFill>
                  <a:srgbClr val="FFFFFF"/>
                </a:solidFill>
              </a:rPr>
              <a:t>HTTPS &amp; padlock</a:t>
            </a:r>
          </a:p>
          <a:p>
            <a:r>
              <a:rPr sz="2000" b="0">
                <a:solidFill>
                  <a:srgbClr val="FFFFFF"/>
                </a:solidFill>
              </a:rPr>
              <a:t>.com domain</a:t>
            </a:r>
          </a:p>
          <a:p>
            <a:r>
              <a:rPr sz="2000" b="0">
                <a:solidFill>
                  <a:srgbClr val="FFFFFF"/>
                </a:solidFill>
              </a:rPr>
              <a:t>Loads quickly</a:t>
            </a:r>
          </a:p>
          <a:p>
            <a:r>
              <a:rPr sz="2000" b="0">
                <a:solidFill>
                  <a:srgbClr val="FFFFFF"/>
                </a:solidFill>
              </a:rPr>
              <a:t>Correct: HTTPS &amp; padlock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What is social engineering?</a:t>
            </a:r>
          </a:p>
          <a:p>
            <a:r>
              <a:rPr sz="2000" b="0">
                <a:solidFill>
                  <a:srgbClr val="FFFFFF"/>
                </a:solidFill>
              </a:rPr>
              <a:t>Software engineering</a:t>
            </a:r>
          </a:p>
          <a:p>
            <a:r>
              <a:rPr sz="2000" b="0">
                <a:solidFill>
                  <a:srgbClr val="FFFFFF"/>
                </a:solidFill>
              </a:rPr>
              <a:t>Manipulating people</a:t>
            </a:r>
          </a:p>
          <a:p>
            <a:r>
              <a:rPr sz="2000" b="0">
                <a:solidFill>
                  <a:srgbClr val="FFFFFF"/>
                </a:solidFill>
              </a:rPr>
              <a:t>Building social platforms</a:t>
            </a:r>
          </a:p>
          <a:p>
            <a:r>
              <a:rPr sz="2000" b="0">
                <a:solidFill>
                  <a:srgbClr val="FFFFFF"/>
                </a:solidFill>
              </a:rPr>
              <a:t>Team management</a:t>
            </a:r>
          </a:p>
          <a:p>
            <a:r>
              <a:rPr sz="2000" b="0">
                <a:solidFill>
                  <a:srgbClr val="FFFFFF"/>
                </a:solidFill>
              </a:rPr>
              <a:t>Correct: Manipulating people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FF00"/>
                </a:solidFill>
              </a:rPr>
              <a:t>Which attachment is most dangerous?</a:t>
            </a:r>
          </a:p>
          <a:p>
            <a:r>
              <a:rPr sz="2000" b="0">
                <a:solidFill>
                  <a:srgbClr val="FFFFFF"/>
                </a:solidFill>
              </a:rPr>
              <a:t>.txt file</a:t>
            </a:r>
          </a:p>
          <a:p>
            <a:r>
              <a:rPr sz="2000" b="0">
                <a:solidFill>
                  <a:srgbClr val="FFFFFF"/>
                </a:solidFill>
              </a:rPr>
              <a:t>.jpg image</a:t>
            </a:r>
          </a:p>
          <a:p>
            <a:r>
              <a:rPr sz="2000" b="0">
                <a:solidFill>
                  <a:srgbClr val="FFFFFF"/>
                </a:solidFill>
              </a:rPr>
              <a:t>.pdf document</a:t>
            </a:r>
          </a:p>
          <a:p>
            <a:r>
              <a:rPr sz="2000" b="0">
                <a:solidFill>
                  <a:srgbClr val="FFFFFF"/>
                </a:solidFill>
              </a:rPr>
              <a:t>.exe file</a:t>
            </a:r>
          </a:p>
          <a:p>
            <a:r>
              <a:rPr sz="2000" b="0">
                <a:solidFill>
                  <a:srgbClr val="FFFFFF"/>
                </a:solidFill>
              </a:rPr>
              <a:t>Correct: .exe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